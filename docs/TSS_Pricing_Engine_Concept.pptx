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3E6A9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2834640" cy="2834640"/>
          </a:xfrm>
          <a:prstGeom prst="ellipse">
            <a:avLst/>
          </a:prstGeom>
          <a:solidFill>
            <a:srgbClr val="1FB6A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3E6A96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TRELLEBORG SEALING SOLUTIONS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TSS Pricing Engine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pricing system that never existed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for landed cost across all regions  ·  Explainable  ·  Configurable  ·  CRM-agnostic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4892040"/>
            <a:ext cx="2926080" cy="0"/>
          </a:xfrm>
          <a:prstGeom prst="line">
            <a:avLst/>
          </a:prstGeom>
          <a:noFill/>
          <a:ln w="25400">
            <a:solidFill>
              <a:srgbClr val="1FB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discussion  ·  August 2026  ·  Abdul Nandalpad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knowledge is scattered across five systems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82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441448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23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C4C / ABSL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797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3282696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Groovy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6210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&amp; routing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123944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4622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96519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47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(S/4 · JDE · FS)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257800" y="1655064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1773936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897880" y="160020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to change one rate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897880" y="191109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markup change touches four systems, a transport and a regression cycle.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257800" y="2734056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85292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897880" y="267919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can answer “why this price?”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5897880" y="299008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single quote line requires a human walking system by system.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257800" y="3813048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3931920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897880" y="375818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is welded to C4C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5897880" y="40690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CRM changes, years of pricing IP go with it.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5257800" y="4892040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5010912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897880" y="483717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regions, four philosophies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5897880" y="51480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economics, different itemization — impossible to compare or harmonize.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594360" y="5897880"/>
            <a:ext cx="11018520" cy="566928"/>
          </a:xfrm>
          <a:prstGeom prst="roundRect">
            <a:avLst>
              <a:gd name="adj" fmla="val 12903"/>
            </a:avLst>
          </a:prstGeom>
          <a:solidFill>
            <a:srgbClr val="0E2A47"/>
          </a:solidFill>
          <a:ln/>
        </p:spPr>
      </p:sp>
      <p:sp>
        <p:nvSpPr>
          <p:cNvPr id="37" name="Text 31"/>
          <p:cNvSpPr/>
          <p:nvPr/>
        </p:nvSpPr>
        <p:spPr>
          <a:xfrm>
            <a:off x="868680" y="598932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pricing is an IT project, and every price is a black box.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pricing workspace — not another calculator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6375C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892808"/>
            <a:ext cx="438912" cy="438912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45" y="2006925"/>
            <a:ext cx="210678" cy="21067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" y="277063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API6 to ERP &amp; BI, its own MCP server, standard OAuth connectors.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419856" y="169164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6375C"/>
          </a:solidFill>
          <a:ln/>
        </p:spPr>
      </p:sp>
      <p:sp>
        <p:nvSpPr>
          <p:cNvPr id="11" name="Shape 8"/>
          <p:cNvSpPr/>
          <p:nvPr/>
        </p:nvSpPr>
        <p:spPr>
          <a:xfrm>
            <a:off x="3621024" y="1892808"/>
            <a:ext cx="438912" cy="438912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141" y="2006925"/>
            <a:ext cx="210678" cy="2106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21024" y="277063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factor, markup and regional rule is data — nothing hardcoded.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245352" y="169164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6375C"/>
          </a:solidFill>
          <a:ln/>
        </p:spPr>
      </p:sp>
      <p:sp>
        <p:nvSpPr>
          <p:cNvPr id="16" name="Shape 12"/>
          <p:cNvSpPr/>
          <p:nvPr/>
        </p:nvSpPr>
        <p:spPr>
          <a:xfrm>
            <a:off x="6446520" y="1892808"/>
            <a:ext cx="438912" cy="438912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637" y="2006925"/>
            <a:ext cx="210678" cy="21067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by design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46520" y="277063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cost from regional settings: Americas, Europe, China, India — and any new region.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070848" y="169164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6375C"/>
          </a:solidFill>
          <a:ln/>
        </p:spPr>
      </p:sp>
      <p:sp>
        <p:nvSpPr>
          <p:cNvPr id="21" name="Shape 16"/>
          <p:cNvSpPr/>
          <p:nvPr/>
        </p:nvSpPr>
        <p:spPr>
          <a:xfrm>
            <a:off x="9272016" y="1892808"/>
            <a:ext cx="438912" cy="438912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133" y="2006925"/>
            <a:ext cx="210678" cy="21067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Instruction-driven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72016" y="277063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tell the system how to price in plain language; it adapts and applies the logic.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594360" y="388620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6375C"/>
          </a:solidFill>
          <a:ln/>
        </p:spPr>
      </p:sp>
      <p:sp>
        <p:nvSpPr>
          <p:cNvPr id="26" name="Shape 20"/>
          <p:cNvSpPr/>
          <p:nvPr/>
        </p:nvSpPr>
        <p:spPr>
          <a:xfrm>
            <a:off x="795528" y="4087368"/>
            <a:ext cx="438912" cy="438912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45" y="4201485"/>
            <a:ext cx="210678" cy="21067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95528" y="4663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95528" y="49651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shows its full derivation — where each cost came from, every step applied.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3419856" y="388620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6375C"/>
          </a:solidFill>
          <a:ln/>
        </p:spPr>
      </p:sp>
      <p:sp>
        <p:nvSpPr>
          <p:cNvPr id="31" name="Shape 24"/>
          <p:cNvSpPr/>
          <p:nvPr/>
        </p:nvSpPr>
        <p:spPr>
          <a:xfrm>
            <a:off x="3621024" y="4087368"/>
            <a:ext cx="438912" cy="438912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5141" y="4201485"/>
            <a:ext cx="210678" cy="21067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21024" y="4663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Insight-powered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3621024" y="49651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costs, prices and sales from BI propose the best price and account insights.</a:t>
            </a:r>
            <a:endParaRPr lang="en-US" sz="1080" dirty="0"/>
          </a:p>
        </p:txBody>
      </p:sp>
      <p:sp>
        <p:nvSpPr>
          <p:cNvPr id="35" name="Shape 27"/>
          <p:cNvSpPr/>
          <p:nvPr/>
        </p:nvSpPr>
        <p:spPr>
          <a:xfrm>
            <a:off x="6245352" y="388620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6375C"/>
          </a:solidFill>
          <a:ln/>
        </p:spPr>
      </p:sp>
      <p:sp>
        <p:nvSpPr>
          <p:cNvPr id="36" name="Shape 28"/>
          <p:cNvSpPr/>
          <p:nvPr/>
        </p:nvSpPr>
        <p:spPr>
          <a:xfrm>
            <a:off x="6446520" y="4087368"/>
            <a:ext cx="438912" cy="438912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0637" y="4201485"/>
            <a:ext cx="210678" cy="21067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46520" y="4663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pricing types</a:t>
            </a:r>
            <a:endParaRPr lang="en-US" sz="1500" dirty="0"/>
          </a:p>
        </p:txBody>
      </p:sp>
      <p:sp>
        <p:nvSpPr>
          <p:cNvPr id="39" name="Text 30"/>
          <p:cNvSpPr/>
          <p:nvPr/>
        </p:nvSpPr>
        <p:spPr>
          <a:xfrm>
            <a:off x="6446520" y="49651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Cost-plus and landed cost first — all five pricing types ready to apply.</a:t>
            </a:r>
            <a:endParaRPr lang="en-US" sz="1080" dirty="0"/>
          </a:p>
        </p:txBody>
      </p:sp>
      <p:sp>
        <p:nvSpPr>
          <p:cNvPr id="40" name="Shape 31"/>
          <p:cNvSpPr/>
          <p:nvPr/>
        </p:nvSpPr>
        <p:spPr>
          <a:xfrm>
            <a:off x="9070848" y="3886200"/>
            <a:ext cx="2697480" cy="1920240"/>
          </a:xfrm>
          <a:prstGeom prst="roundRect">
            <a:avLst>
              <a:gd name="adj" fmla="val 4286"/>
            </a:avLst>
          </a:prstGeom>
          <a:solidFill>
            <a:srgbClr val="16375C"/>
          </a:solidFill>
          <a:ln/>
        </p:spPr>
      </p:sp>
      <p:sp>
        <p:nvSpPr>
          <p:cNvPr id="41" name="Shape 32"/>
          <p:cNvSpPr/>
          <p:nvPr/>
        </p:nvSpPr>
        <p:spPr>
          <a:xfrm>
            <a:off x="9272016" y="4087368"/>
            <a:ext cx="438912" cy="438912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133" y="4201485"/>
            <a:ext cx="210678" cy="21067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272016" y="4663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CRM-agnostic</a:t>
            </a:r>
            <a:endParaRPr lang="en-US" sz="1500" dirty="0"/>
          </a:p>
        </p:txBody>
      </p:sp>
      <p:sp>
        <p:nvSpPr>
          <p:cNvPr id="44" name="Text 34"/>
          <p:cNvSpPr/>
          <p:nvPr/>
        </p:nvSpPr>
        <p:spPr>
          <a:xfrm>
            <a:off x="9272016" y="4965192"/>
            <a:ext cx="2313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as a mashup in C4C today; Salesforce or Dynamics tomorrow.</a:t>
            </a:r>
            <a:endParaRPr lang="en-US" sz="1080" dirty="0"/>
          </a:p>
        </p:txBody>
      </p:sp>
      <p:sp>
        <p:nvSpPr>
          <p:cNvPr id="45" name="Text 35"/>
          <p:cNvSpPr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TSS first — designed from day one to become Pricing-as-a-Service.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regions — same economics, four itemizations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10185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331720"/>
                <a:gridCol w="2331720"/>
                <a:gridCol w="2331720"/>
                <a:gridCol w="22402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S/4 moving avg (MTS)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CCD catalog (non-MTS)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JDE E1 weighted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supplier cost options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JDE China direct 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Europe fallback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Fourth Shift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Freight / duty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adders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adders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 tariff 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 in F&amp;D 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(by COO)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overseas 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SCM markup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LCA markup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(domestic / overseas)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LCE + conditional LCS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charge 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charge $ ÷ 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pick charge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MOLV / MOV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MOLV / MOV / MROQ*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742432"/>
            <a:ext cx="11018520" cy="777240"/>
          </a:xfrm>
          <a:prstGeom prst="rect">
            <a:avLst/>
          </a:prstGeom>
          <a:solidFill>
            <a:srgbClr val="0E2A47"/>
          </a:solidFill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finding: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in all four regions is one of just five building blocks. The regions are not four philosophies — they are four levels of itemization of the same one.  </a:t>
            </a:r>
            <a:pPr indent="0" marL="0">
              <a:buNone/>
            </a:pPr>
            <a:r>
              <a:rPr lang="en-US" sz="11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(*MROQ routes the scenario — it is an input, not an adjustment.)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become data — five primitives price everything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562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3317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61518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resolved cost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1272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avg, weighted avg, supplier catalog, manual, AI-derived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25496" y="155448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08376" y="1737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8562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08376" y="23317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008376" y="261518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multiplier on a declared basis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008376" y="31272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4.7% · LCA · LCE/LCS · F&amp;D composites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56632" y="155448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39512" y="1737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85623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9512" y="23317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239512" y="261518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absolute amount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239512" y="31272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Freight, duty, tariff as amounts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287768" y="155448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70648" y="1737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85623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70648" y="23317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LINE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470648" y="261518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amount ÷ quantity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70648" y="31272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charges ($34, €21, CN = 0)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518904" y="1554480"/>
            <a:ext cx="2121408" cy="228600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701784" y="17373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656" y="185623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01784" y="23317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9701784" y="2615184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/ step adjustment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9701784" y="3127248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MOLV, MOV, SPU rounding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94360" y="4251960"/>
            <a:ext cx="3584448" cy="1783080"/>
          </a:xfrm>
          <a:prstGeom prst="roundRect">
            <a:avLst>
              <a:gd name="adj" fmla="val 4615"/>
            </a:avLst>
          </a:prstGeom>
          <a:solidFill>
            <a:srgbClr val="0E2A47"/>
          </a:solidFill>
          <a:ln/>
        </p:spPr>
      </p:sp>
      <p:sp>
        <p:nvSpPr>
          <p:cNvPr id="36" name="Text 29"/>
          <p:cNvSpPr/>
          <p:nvPr/>
        </p:nvSpPr>
        <p:spPr>
          <a:xfrm>
            <a:off x="813816" y="4462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 = a config document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813816" y="498348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list of typed elements with parameters — not a code branch. Adding a region is configuration, not a project.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343400" y="4251960"/>
            <a:ext cx="3584448" cy="1783080"/>
          </a:xfrm>
          <a:prstGeom prst="roundRect">
            <a:avLst>
              <a:gd name="adj" fmla="val 4615"/>
            </a:avLst>
          </a:prstGeom>
          <a:solidFill>
            <a:srgbClr val="0E2A47"/>
          </a:solidFill>
          <a:ln/>
        </p:spPr>
      </p:sp>
      <p:sp>
        <p:nvSpPr>
          <p:cNvPr id="39" name="Text 32"/>
          <p:cNvSpPr/>
          <p:nvPr/>
        </p:nvSpPr>
        <p:spPr>
          <a:xfrm>
            <a:off x="4562856" y="4462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 declares its basis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4562856" y="498348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“Duty on what?” is answered explicitly in config. The engine refuses to run a factor without a basis — no silent margin leaks.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092440" y="4251960"/>
            <a:ext cx="3584448" cy="1783080"/>
          </a:xfrm>
          <a:prstGeom prst="roundRect">
            <a:avLst>
              <a:gd name="adj" fmla="val 4615"/>
            </a:avLst>
          </a:prstGeom>
          <a:solidFill>
            <a:srgbClr val="0E2A47"/>
          </a:solidFill>
          <a:ln/>
        </p:spPr>
      </p:sp>
      <p:sp>
        <p:nvSpPr>
          <p:cNvPr id="42" name="Text 35"/>
          <p:cNvSpPr/>
          <p:nvPr/>
        </p:nvSpPr>
        <p:spPr>
          <a:xfrm>
            <a:off x="8311896" y="4462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effective-dated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8311896" y="498348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December quote reprices exactly at December rules. Rate changes go live on a date, with full history.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all four regional flows — no element required a sixth primitive.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 in the middle — callers above, facts below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105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C4C (mashup)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93008" y="17373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8105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/ Dynamics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63056" y="17373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8105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Webshop / EDI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33104" y="173736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24544" y="18105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clients (AI)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2377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neutral pricing request — object-agnostic, purpose-driven (indicative / binding / reprice)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697480"/>
            <a:ext cx="10515600" cy="1783080"/>
          </a:xfrm>
          <a:prstGeom prst="roundRect">
            <a:avLst>
              <a:gd name="adj" fmla="val 5128"/>
            </a:avLst>
          </a:prstGeom>
          <a:solidFill>
            <a:srgbClr val="0E2A4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852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 PRICING ENGINE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97280" y="3200400"/>
            <a:ext cx="2432304" cy="1097280"/>
          </a:xfrm>
          <a:prstGeom prst="roundRect">
            <a:avLst>
              <a:gd name="adj" fmla="val 6667"/>
            </a:avLst>
          </a:prstGeom>
          <a:solidFill>
            <a:srgbClr val="16375C"/>
          </a:solidFill>
          <a:ln/>
        </p:spPr>
      </p:sp>
      <p:sp>
        <p:nvSpPr>
          <p:cNvPr id="18" name="Text 16"/>
          <p:cNvSpPr/>
          <p:nvPr/>
        </p:nvSpPr>
        <p:spPr>
          <a:xfrm>
            <a:off x="1243584" y="33192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kernel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43584" y="362102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primitives · decimal math · pure &amp; replayable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75888" y="3200400"/>
            <a:ext cx="2432304" cy="1097280"/>
          </a:xfrm>
          <a:prstGeom prst="roundRect">
            <a:avLst>
              <a:gd name="adj" fmla="val 6667"/>
            </a:avLst>
          </a:prstGeom>
          <a:solidFill>
            <a:srgbClr val="16375C"/>
          </a:solidFill>
          <a:ln/>
        </p:spPr>
      </p:sp>
      <p:sp>
        <p:nvSpPr>
          <p:cNvPr id="21" name="Text 19"/>
          <p:cNvSpPr/>
          <p:nvPr/>
        </p:nvSpPr>
        <p:spPr>
          <a:xfrm>
            <a:off x="3822192" y="33192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22192" y="362102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rules · versioned · effective-dated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54496" y="3200400"/>
            <a:ext cx="2432304" cy="1097280"/>
          </a:xfrm>
          <a:prstGeom prst="roundRect">
            <a:avLst>
              <a:gd name="adj" fmla="val 6667"/>
            </a:avLst>
          </a:prstGeom>
          <a:solidFill>
            <a:srgbClr val="16375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3192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trace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62102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· every source · every version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33104" y="3200400"/>
            <a:ext cx="2432304" cy="1097280"/>
          </a:xfrm>
          <a:prstGeom prst="roundRect">
            <a:avLst>
              <a:gd name="adj" fmla="val 6667"/>
            </a:avLst>
          </a:prstGeom>
          <a:solidFill>
            <a:srgbClr val="16375C"/>
          </a:solidFill>
          <a:ln/>
        </p:spPr>
      </p:sp>
      <p:sp>
        <p:nvSpPr>
          <p:cNvPr id="27" name="Text 25"/>
          <p:cNvSpPr/>
          <p:nvPr/>
        </p:nvSpPr>
        <p:spPr>
          <a:xfrm>
            <a:off x="8979408" y="331927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shell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79408" y="3621024"/>
            <a:ext cx="2157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suggests, interprets, explains — never silently calculates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45902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 only — routing, cost candidates with provenance, elements, FX  ·  API6 never pre-calculates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4919472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992624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API6  —  internal middleware: the single door to every backend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22960" y="571500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577900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962656" y="571500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808" y="577900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JDE E1 / JDE China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102352" y="571500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75504" y="577900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Shift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242048" y="571500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577900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CCD (central costs)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381744" y="571500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54896" y="577900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(history)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94360" y="63550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rules that keep it trustworthy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965960"/>
            <a:ext cx="512064" cy="512064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529" y="2099097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calculates. API6 integrates.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554480" y="256032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never touches ERP directly, and API6 never applies a markup “to be helpful.” One clean boundary — one source of arithmetic truth.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19672" y="1965960"/>
            <a:ext cx="512064" cy="512064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809" y="209909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core, AI shell.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223760" y="256032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output, always — that is what makes simulation, replay and audit possible. AI suggests and explains around the core; it never silently prices.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" y="3977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0392" y="4251960"/>
            <a:ext cx="512064" cy="512064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29" y="4385097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270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explains itself.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1554480" y="484632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carries its full derivation: every step, every rate and its basis, every cost with system / table / field / timestamp, every config version applied.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3977640"/>
            <a:ext cx="5349240" cy="2057400"/>
          </a:xfrm>
          <a:prstGeom prst="roundRect">
            <a:avLst>
              <a:gd name="adj" fmla="val 4444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19672" y="4251960"/>
            <a:ext cx="512064" cy="512064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809" y="4385097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270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Object-agnostic by purpose.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223760" y="4846320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Opportunity, quote, order or service — all map to one neutral request. Behaviour follows purpose (indicative / binding / reprice), not the host object.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changes for TSS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6375C"/>
          </a:solidFill>
          <a:ln/>
        </p:spPr>
      </p:sp>
      <p:sp>
        <p:nvSpPr>
          <p:cNvPr id="6" name="Shape 4"/>
          <p:cNvSpPr/>
          <p:nvPr/>
        </p:nvSpPr>
        <p:spPr>
          <a:xfrm>
            <a:off x="813816" y="2002536"/>
            <a:ext cx="457200" cy="457200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2140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pricing truth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32104" y="2624328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C4C, webshop, EDI, any future CRM — every channel prices from the same engine.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6375C"/>
          </a:solidFill>
          <a:ln/>
        </p:spPr>
      </p:sp>
      <p:sp>
        <p:nvSpPr>
          <p:cNvPr id="11" name="Shape 8"/>
          <p:cNvSpPr/>
          <p:nvPr/>
        </p:nvSpPr>
        <p:spPr>
          <a:xfrm>
            <a:off x="4562856" y="2002536"/>
            <a:ext cx="457200" cy="457200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12140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minutes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81144" y="2624328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changes become a governed config change by the pricing team, not an IT transport cycle.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92440" y="178308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6375C"/>
          </a:solidFill>
          <a:ln/>
        </p:spPr>
      </p:sp>
      <p:sp>
        <p:nvSpPr>
          <p:cNvPr id="16" name="Shape 12"/>
          <p:cNvSpPr/>
          <p:nvPr/>
        </p:nvSpPr>
        <p:spPr>
          <a:xfrm>
            <a:off x="8311896" y="2002536"/>
            <a:ext cx="457200" cy="457200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12140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30184" y="2624328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sees why. Finance sees who changed what, when — and what it did to margin.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4360" y="393192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6375C"/>
          </a:solidFill>
          <a:ln/>
        </p:spPr>
      </p:sp>
      <p:sp>
        <p:nvSpPr>
          <p:cNvPr id="21" name="Shape 16"/>
          <p:cNvSpPr/>
          <p:nvPr/>
        </p:nvSpPr>
        <p:spPr>
          <a:xfrm>
            <a:off x="813816" y="4151376"/>
            <a:ext cx="457200" cy="457200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27024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before commit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32104" y="4773168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last year’s quotes against a proposed rule change and see the margin impact in advance.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3400" y="393192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6375C"/>
          </a:solidFill>
          <a:ln/>
        </p:spPr>
      </p:sp>
      <p:sp>
        <p:nvSpPr>
          <p:cNvPr id="26" name="Shape 20"/>
          <p:cNvSpPr/>
          <p:nvPr/>
        </p:nvSpPr>
        <p:spPr>
          <a:xfrm>
            <a:off x="4562856" y="4151376"/>
            <a:ext cx="457200" cy="457200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270248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6636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agility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581144" y="4773168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effective-dated rule change propagates globally — no more quoting at stale landed cost.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92440" y="3931920"/>
            <a:ext cx="3584448" cy="1920240"/>
          </a:xfrm>
          <a:prstGeom prst="roundRect">
            <a:avLst>
              <a:gd name="adj" fmla="val 4762"/>
            </a:avLst>
          </a:prstGeom>
          <a:solidFill>
            <a:srgbClr val="16375C"/>
          </a:solidFill>
          <a:ln/>
        </p:spPr>
      </p:sp>
      <p:sp>
        <p:nvSpPr>
          <p:cNvPr id="31" name="Shape 24"/>
          <p:cNvSpPr/>
          <p:nvPr/>
        </p:nvSpPr>
        <p:spPr>
          <a:xfrm>
            <a:off x="8311896" y="4151376"/>
            <a:ext cx="457200" cy="457200"/>
          </a:xfrm>
          <a:prstGeom prst="ellipse">
            <a:avLst/>
          </a:prstGeom>
          <a:solidFill>
            <a:srgbClr val="0B213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270248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1540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become comparable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330184" y="4773168"/>
            <a:ext cx="31272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four itemizations of one philosophy is the precondition for ever harmonizing them.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9436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beyond TSS: the same engine, multi-tenant on Postgres, becomes a Pricing-as-a-Service product.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on SAP BTP — portable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11018520" cy="868680"/>
          </a:xfrm>
          <a:prstGeom prst="roundRect">
            <a:avLst>
              <a:gd name="adj" fmla="val 9474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556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75564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Node.js on SAP BTP Cloud Foundry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0" y="17556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TSS-comfortable · XSUAA auth · destinations to API6 · consistent with existing CX apps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670048"/>
            <a:ext cx="11018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79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77977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deliberately not Fiori / UI5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27797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Framework-neutral: embeds as a mashup in C4C today, Salesforce / Dynamics tomorrow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694176"/>
            <a:ext cx="11018520" cy="868680"/>
          </a:xfrm>
          <a:prstGeom prst="roundRect">
            <a:avLst>
              <a:gd name="adj" fmla="val 9474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03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80390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Node module — zero SAP dependencies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380390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IP is a portable library; CAP is only its host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718304"/>
            <a:ext cx="11018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28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4828032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Cloud via CAP’s abstraction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0" y="482803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identical codebase runs on Postgres — the SaaS path needs no rewrite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5852160"/>
            <a:ext cx="11018520" cy="640080"/>
          </a:xfrm>
          <a:prstGeom prst="roundRect">
            <a:avLst>
              <a:gd name="adj" fmla="val 12857"/>
            </a:avLst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96188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HANA-specific SQL, no UI5, no hardcoded rates, no direct ERP calls — the two lock-ins and two shortcuts that would kill portability.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 — prove the model early, add intelligence late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51560" y="2212848"/>
            <a:ext cx="10058400" cy="0"/>
          </a:xfrm>
          <a:prstGeom prst="line">
            <a:avLst/>
          </a:prstGeom>
          <a:noFill/>
          <a:ln w="3175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7592" y="1993392"/>
            <a:ext cx="457200" cy="457200"/>
          </a:xfrm>
          <a:prstGeom prst="ellipse">
            <a:avLst/>
          </a:prstGeom>
          <a:solidFill>
            <a:srgbClr val="1FB6A6"/>
          </a:solidFill>
          <a:ln/>
        </p:spPr>
      </p:sp>
      <p:sp>
        <p:nvSpPr>
          <p:cNvPr id="7" name="Text 5"/>
          <p:cNvSpPr/>
          <p:nvPr/>
        </p:nvSpPr>
        <p:spPr>
          <a:xfrm>
            <a:off x="1307592" y="2011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69748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8529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+ config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8096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core, config model, golden test set. One region end-to-end (simplest first), API6 stubbed with recorded payloads.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3557016" y="1993392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2011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71216" y="269748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8529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regions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17520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configs complete, CAP API surface, versioning &amp; effective dating, config UI (read-only first).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806440" y="1993392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/>
          <p:nvPr/>
        </p:nvSpPr>
        <p:spPr>
          <a:xfrm>
            <a:off x="5806440" y="2011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20640" y="269748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66944" y="28529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Mashup in C4C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66944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pricing workspace: context mapping, cost-candidate selection, explanation view.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055864" y="1993392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2" name="Text 20"/>
          <p:cNvSpPr/>
          <p:nvPr/>
        </p:nvSpPr>
        <p:spPr>
          <a:xfrm>
            <a:off x="8055864" y="2011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70064" y="269748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28529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16368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history insights, best-price proposals, pricing-type suggestion, natural-language instructions, MCP server.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10305288" y="1993392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/>
          <p:nvPr/>
        </p:nvSpPr>
        <p:spPr>
          <a:xfrm>
            <a:off x="10305288" y="2011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19488" y="2697480"/>
            <a:ext cx="2121408" cy="2880360"/>
          </a:xfrm>
          <a:prstGeom prst="roundRect">
            <a:avLst>
              <a:gd name="adj" fmla="val 3879"/>
            </a:avLst>
          </a:prstGeom>
          <a:solidFill>
            <a:srgbClr val="F1F5FA"/>
          </a:solidFill>
          <a:ln w="12700">
            <a:solidFill>
              <a:srgbClr val="D8E2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65792" y="28529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SaaS-ready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765792" y="342900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 on Postgres, multi-tenant model, OAuth connectors — Pricing-as-a-Service.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59436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 throughout: a golden test set of finance-verified real quote lines per region — no config change ships if it breaks one.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3840480" cy="3840480"/>
          </a:xfrm>
          <a:prstGeom prst="ellipse">
            <a:avLst/>
          </a:prstGeom>
          <a:solidFill>
            <a:srgbClr val="3E6A9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463040"/>
            <a:ext cx="3474720" cy="3474720"/>
          </a:xfrm>
          <a:prstGeom prst="ellipse">
            <a:avLst/>
          </a:prstGeom>
          <a:solidFill>
            <a:srgbClr val="1FB6A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decide together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E6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16375C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" y="19293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region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2104" y="22585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proves the model — simplest first (India or Europe), not the largest?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16375C"/>
          </a:solidFill>
          <a:ln/>
        </p:spPr>
      </p:sp>
      <p:sp>
        <p:nvSpPr>
          <p:cNvPr id="11" name="Text 9"/>
          <p:cNvSpPr/>
          <p:nvPr/>
        </p:nvSpPr>
        <p:spPr>
          <a:xfrm>
            <a:off x="6501384" y="19293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01384" y="22585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pricing logic globally? Who approves a rule change — maker/checker from day one?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264408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16375C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" y="34107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vs. consolidation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" y="37398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engine become the only place landed cost is calculated — or run alongside BI?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64408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16375C"/>
          </a:solidFill>
          <a:ln/>
        </p:spPr>
      </p:sp>
      <p:sp>
        <p:nvSpPr>
          <p:cNvPr id="17" name="Text 15"/>
          <p:cNvSpPr/>
          <p:nvPr/>
        </p:nvSpPr>
        <p:spPr>
          <a:xfrm>
            <a:off x="6501384" y="34107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API6 scope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01384" y="373989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API6 deliver routing facts too, or does the engine own the resolution ladder?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745736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16375C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" y="48920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2104" y="522122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Shadow-run period: engine alongside today’s numbers, differences explained before anyone sees output.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745736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16375C"/>
          </a:solidFill>
          <a:ln/>
        </p:spPr>
      </p:sp>
      <p:sp>
        <p:nvSpPr>
          <p:cNvPr id="23" name="Text 21"/>
          <p:cNvSpPr/>
          <p:nvPr/>
        </p:nvSpPr>
        <p:spPr>
          <a:xfrm>
            <a:off x="6501384" y="48920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B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&amp; IP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01384" y="522122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settled before the code moves to TSS infrastructure.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the easy part. These six answers are what make it real.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2026-08-25T05:57:44Z</dcterms:created>
  <dcterms:modified xsi:type="dcterms:W3CDTF">2026-08-25T05:57:44Z</dcterms:modified>
</cp:coreProperties>
</file>